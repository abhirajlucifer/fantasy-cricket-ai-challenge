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302E61-65A0-4A1B-B50D-A1C789C409A0}" v="1" dt="2026-09-30T21:06:36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91" y="-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raj Singh" userId="c31d907d4637f163" providerId="LiveId" clId="{7D914176-BC53-4BCF-84A7-33439BDD4B90}"/>
    <pc:docChg chg="undo custSel modSld">
      <pc:chgData name="Abhiraj Singh" userId="c31d907d4637f163" providerId="LiveId" clId="{7D914176-BC53-4BCF-84A7-33439BDD4B90}" dt="2026-09-30T21:06:49.968" v="58" actId="20577"/>
      <pc:docMkLst>
        <pc:docMk/>
      </pc:docMkLst>
      <pc:sldChg chg="modSp mod">
        <pc:chgData name="Abhiraj Singh" userId="c31d907d4637f163" providerId="LiveId" clId="{7D914176-BC53-4BCF-84A7-33439BDD4B90}" dt="2026-09-30T21:04:17.252" v="9" actId="20577"/>
        <pc:sldMkLst>
          <pc:docMk/>
          <pc:sldMk cId="0" sldId="256"/>
        </pc:sldMkLst>
        <pc:spChg chg="mod">
          <ac:chgData name="Abhiraj Singh" userId="c31d907d4637f163" providerId="LiveId" clId="{7D914176-BC53-4BCF-84A7-33439BDD4B90}" dt="2026-09-30T21:03:49.573" v="1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bhiraj Singh" userId="c31d907d4637f163" providerId="LiveId" clId="{7D914176-BC53-4BCF-84A7-33439BDD4B90}" dt="2026-09-30T21:04:00.390" v="5" actId="20577"/>
          <ac:spMkLst>
            <pc:docMk/>
            <pc:sldMk cId="0" sldId="256"/>
            <ac:spMk id="14" creationId="{00000000-0000-0000-0000-000000000000}"/>
          </ac:spMkLst>
        </pc:spChg>
        <pc:spChg chg="mod">
          <ac:chgData name="Abhiraj Singh" userId="c31d907d4637f163" providerId="LiveId" clId="{7D914176-BC53-4BCF-84A7-33439BDD4B90}" dt="2026-09-30T21:04:06.334" v="7" actId="2057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Abhiraj Singh" userId="c31d907d4637f163" providerId="LiveId" clId="{7D914176-BC53-4BCF-84A7-33439BDD4B90}" dt="2026-09-30T21:04:17.252" v="9" actId="20577"/>
          <ac:spMkLst>
            <pc:docMk/>
            <pc:sldMk cId="0" sldId="256"/>
            <ac:spMk id="24" creationId="{00000000-0000-0000-0000-000000000000}"/>
          </ac:spMkLst>
        </pc:spChg>
      </pc:sldChg>
      <pc:sldChg chg="addSp delSp modSp mod">
        <pc:chgData name="Abhiraj Singh" userId="c31d907d4637f163" providerId="LiveId" clId="{7D914176-BC53-4BCF-84A7-33439BDD4B90}" dt="2026-09-30T21:06:49.968" v="58" actId="20577"/>
        <pc:sldMkLst>
          <pc:docMk/>
          <pc:sldMk cId="0" sldId="259"/>
        </pc:sldMkLst>
        <pc:spChg chg="mod">
          <ac:chgData name="Abhiraj Singh" userId="c31d907d4637f163" providerId="LiveId" clId="{7D914176-BC53-4BCF-84A7-33439BDD4B90}" dt="2026-09-30T21:06:08.401" v="14" actId="14100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bhiraj Singh" userId="c31d907d4637f163" providerId="LiveId" clId="{7D914176-BC53-4BCF-84A7-33439BDD4B90}" dt="2026-09-30T21:06:15.768" v="16" actId="14100"/>
          <ac:spMkLst>
            <pc:docMk/>
            <pc:sldMk cId="0" sldId="259"/>
            <ac:spMk id="21" creationId="{00000000-0000-0000-0000-000000000000}"/>
          </ac:spMkLst>
        </pc:spChg>
        <pc:spChg chg="mod">
          <ac:chgData name="Abhiraj Singh" userId="c31d907d4637f163" providerId="LiveId" clId="{7D914176-BC53-4BCF-84A7-33439BDD4B90}" dt="2026-09-30T21:06:20.231" v="17" actId="107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Abhiraj Singh" userId="c31d907d4637f163" providerId="LiveId" clId="{7D914176-BC53-4BCF-84A7-33439BDD4B90}" dt="2026-09-30T21:06:28.637" v="19" actId="1076"/>
          <ac:spMkLst>
            <pc:docMk/>
            <pc:sldMk cId="0" sldId="259"/>
            <ac:spMk id="29" creationId="{00000000-0000-0000-0000-000000000000}"/>
          </ac:spMkLst>
        </pc:spChg>
        <pc:spChg chg="add del mod">
          <ac:chgData name="Abhiraj Singh" userId="c31d907d4637f163" providerId="LiveId" clId="{7D914176-BC53-4BCF-84A7-33439BDD4B90}" dt="2026-09-30T21:06:49.968" v="58" actId="20577"/>
          <ac:spMkLst>
            <pc:docMk/>
            <pc:sldMk cId="0" sldId="259"/>
            <ac:spMk id="34" creationId="{00000000-0000-0000-0000-000000000000}"/>
          </ac:spMkLst>
        </pc:spChg>
        <pc:spChg chg="add del mod">
          <ac:chgData name="Abhiraj Singh" userId="c31d907d4637f163" providerId="LiveId" clId="{7D914176-BC53-4BCF-84A7-33439BDD4B90}" dt="2026-09-30T21:06:40.683" v="24" actId="47"/>
          <ac:spMkLst>
            <pc:docMk/>
            <pc:sldMk cId="0" sldId="259"/>
            <ac:spMk id="35" creationId="{E421981E-8131-6F80-639E-0FA043FD8DFD}"/>
          </ac:spMkLst>
        </pc:spChg>
      </pc:sldChg>
      <pc:sldChg chg="modSp mod">
        <pc:chgData name="Abhiraj Singh" userId="c31d907d4637f163" providerId="LiveId" clId="{7D914176-BC53-4BCF-84A7-33439BDD4B90}" dt="2026-09-30T21:05:48.237" v="11" actId="20577"/>
        <pc:sldMkLst>
          <pc:docMk/>
          <pc:sldMk cId="0" sldId="260"/>
        </pc:sldMkLst>
        <pc:spChg chg="mod">
          <ac:chgData name="Abhiraj Singh" userId="c31d907d4637f163" providerId="LiveId" clId="{7D914176-BC53-4BCF-84A7-33439BDD4B90}" dt="2026-09-30T21:05:48.237" v="11" actId="20577"/>
          <ac:spMkLst>
            <pc:docMk/>
            <pc:sldMk cId="0" sldId="260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763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63840" cy="6858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600200"/>
            <a:ext cx="685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Fantasy Cricket Team: Availability-Aware Scoring and Exact Constrained XI Selection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886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Model v3 Technical Report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4526280"/>
            <a:ext cx="676656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640080" y="47548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single gradient-boosted model lifts top-11 capture from 57.16% to 66.63% over a last-5 baseline, maintaining an auditable and leakage-safe pipeline.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412480" y="1600200"/>
            <a:ext cx="331927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8595360" y="1874520"/>
            <a:ext cx="685800" cy="68580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0526" y="2059686"/>
            <a:ext cx="315468" cy="3154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418320" y="1737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+9.47 pp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941832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top-11 capture vs last-5 baseline (66.63% vs 57.16%)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412480" y="3063240"/>
            <a:ext cx="331927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8595360" y="3337560"/>
            <a:ext cx="685800" cy="68580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0526" y="3522726"/>
            <a:ext cx="315468" cy="3154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41832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0.886</a:t>
            </a:r>
            <a:endParaRPr lang="en-US" sz="3000" dirty="0"/>
          </a:p>
        </p:txBody>
      </p:sp>
      <p:sp>
        <p:nvSpPr>
          <p:cNvPr id="20" name="Text 15"/>
          <p:cNvSpPr txBox="1"/>
          <p:nvPr/>
        </p:nvSpPr>
        <p:spPr>
          <a:xfrm>
            <a:off x="9418320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appearance ROC-AUC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412480" y="4526280"/>
            <a:ext cx="331927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8595360" y="4800600"/>
            <a:ext cx="685800" cy="68580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0526" y="4985766"/>
            <a:ext cx="315468" cy="31546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418320" y="4663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19.478</a:t>
            </a:r>
            <a:endParaRPr lang="en-US" sz="3000" dirty="0"/>
          </a:p>
        </p:txBody>
      </p:sp>
      <p:sp>
        <p:nvSpPr>
          <p:cNvPr id="25" name="Text 19"/>
          <p:cNvSpPr txBox="1"/>
          <p:nvPr/>
        </p:nvSpPr>
        <p:spPr>
          <a:xfrm>
            <a:off x="9418320" y="5212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MAE, down 32.8% from the last-5 baseline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482558" cy="20116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Overview &amp; Prediction Task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two announced squads into the single best legal fantasy XI, with availability built into every score.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43584"/>
            <a:ext cx="11274552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685800" cy="68580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" y="1575054"/>
            <a:ext cx="315468" cy="3154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38988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468880" y="1389888"/>
            <a:ext cx="926287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2651760" y="1389888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announced squads to exactly one legal 11-player XI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240280"/>
            <a:ext cx="11274552" cy="14630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254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457200" y="23317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Target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651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points = f(availability, form, career, context)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2918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Non-players score 0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384048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566928" y="3931920"/>
            <a:ext cx="594360" cy="59436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405" y="4092397"/>
            <a:ext cx="273406" cy="27340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280160" y="3904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128016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team selection rate and days since last match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261104" y="384048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4370832" y="3931920"/>
            <a:ext cx="594360" cy="59436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1309" y="4092397"/>
            <a:ext cx="273406" cy="27340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084064" y="3904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&amp; career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5084064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mean points over the last 3, 5 and 10 matches plus career record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065008" y="384048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2"/>
          <p:cNvSpPr/>
          <p:nvPr/>
        </p:nvSpPr>
        <p:spPr>
          <a:xfrm>
            <a:off x="8174736" y="3931920"/>
            <a:ext cx="594360" cy="59436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5213" y="4092397"/>
            <a:ext cx="273406" cy="27340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887968" y="3904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8887968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points order candidates; absent players score 0</a:t>
            </a:r>
            <a:endParaRPr lang="en-US" sz="1050" dirty="0"/>
          </a:p>
        </p:txBody>
      </p:sp>
      <p:sp>
        <p:nvSpPr>
          <p:cNvPr id="31" name="Text 2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XI constraints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457200" y="5120640"/>
            <a:ext cx="1325880" cy="502920"/>
          </a:xfrm>
          <a:prstGeom prst="roundRect">
            <a:avLst>
              <a:gd name="adj" fmla="val 49091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27"/>
          <p:cNvSpPr txBox="1"/>
          <p:nvPr/>
        </p:nvSpPr>
        <p:spPr>
          <a:xfrm>
            <a:off x="457200" y="5120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1-4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1920240" y="5120640"/>
            <a:ext cx="1325880" cy="502920"/>
          </a:xfrm>
          <a:prstGeom prst="roundRect">
            <a:avLst>
              <a:gd name="adj" fmla="val 49091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9"/>
          <p:cNvSpPr txBox="1"/>
          <p:nvPr/>
        </p:nvSpPr>
        <p:spPr>
          <a:xfrm>
            <a:off x="1920240" y="5120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 3-6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3383280" y="5120640"/>
            <a:ext cx="1325880" cy="502920"/>
          </a:xfrm>
          <a:prstGeom prst="roundRect">
            <a:avLst>
              <a:gd name="adj" fmla="val 49091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1"/>
          <p:cNvSpPr txBox="1"/>
          <p:nvPr/>
        </p:nvSpPr>
        <p:spPr>
          <a:xfrm>
            <a:off x="3383280" y="5120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1-4</a:t>
            </a:r>
            <a:endParaRPr lang="en-US" sz="1400" dirty="0"/>
          </a:p>
        </p:txBody>
      </p:sp>
      <p:sp>
        <p:nvSpPr>
          <p:cNvPr id="38" name="Shape 32"/>
          <p:cNvSpPr/>
          <p:nvPr/>
        </p:nvSpPr>
        <p:spPr>
          <a:xfrm>
            <a:off x="4846320" y="5120640"/>
            <a:ext cx="1325880" cy="502920"/>
          </a:xfrm>
          <a:prstGeom prst="roundRect">
            <a:avLst>
              <a:gd name="adj" fmla="val 49091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3"/>
          <p:cNvSpPr txBox="1"/>
          <p:nvPr/>
        </p:nvSpPr>
        <p:spPr>
          <a:xfrm>
            <a:off x="4846320" y="5120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BOWL 3-6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457200" y="5687568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allowed per role</a:t>
            </a:r>
            <a:endParaRPr lang="en-US" sz="1050" dirty="0"/>
          </a:p>
        </p:txBody>
      </p:sp>
      <p:sp>
        <p:nvSpPr>
          <p:cNvPr id="41" name="Text 35"/>
          <p:cNvSpPr txBox="1"/>
          <p:nvPr/>
        </p:nvSpPr>
        <p:spPr>
          <a:xfrm>
            <a:off x="6400800" y="50292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42" name="Shape 36"/>
          <p:cNvSpPr/>
          <p:nvPr/>
        </p:nvSpPr>
        <p:spPr>
          <a:xfrm>
            <a:off x="7132320" y="4800600"/>
            <a:ext cx="1143000" cy="114300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7"/>
          <p:cNvSpPr txBox="1"/>
          <p:nvPr/>
        </p:nvSpPr>
        <p:spPr>
          <a:xfrm>
            <a:off x="7132320" y="48006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800" dirty="0"/>
          </a:p>
        </p:txBody>
      </p:sp>
      <p:sp>
        <p:nvSpPr>
          <p:cNvPr id="44" name="Shape 38"/>
          <p:cNvSpPr/>
          <p:nvPr/>
        </p:nvSpPr>
        <p:spPr>
          <a:xfrm>
            <a:off x="8595360" y="4846320"/>
            <a:ext cx="3136392" cy="1051560"/>
          </a:xfrm>
          <a:prstGeom prst="roundRect">
            <a:avLst>
              <a:gd name="adj" fmla="val 6957"/>
            </a:avLst>
          </a:prstGeom>
          <a:solidFill>
            <a:srgbClr val="FEF2F2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9"/>
          <p:cNvSpPr txBox="1"/>
          <p:nvPr/>
        </p:nvSpPr>
        <p:spPr>
          <a:xfrm>
            <a:off x="8778240" y="484632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11 players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drawn from both teams, within every role range.</a:t>
            </a:r>
            <a:endParaRPr lang="en-US" sz="1200" dirty="0"/>
          </a:p>
        </p:txBody>
      </p:sp>
      <p:sp>
        <p:nvSpPr>
          <p:cNvPr id="46" name="Shape 40"/>
          <p:cNvSpPr/>
          <p:nvPr/>
        </p:nvSpPr>
        <p:spPr>
          <a:xfrm>
            <a:off x="457200" y="6126480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FEF2F2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1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model ranks; decision layer guarantees legality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223837" cy="20116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Architectural Walkthrough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match files to a validated XI: five stages, each with a single job.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43584"/>
            <a:ext cx="11274552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5568" y="1627632"/>
            <a:ext cx="685800" cy="68580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734" y="1812798"/>
            <a:ext cx="315468" cy="3154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6928" y="245059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Acquire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29260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(Cricsheet JSON)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352044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Ball-by-ball T20 / IT20 files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XIs as candidate pools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2468880" y="288036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2770632" y="1463040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3429000" y="1627632"/>
            <a:ext cx="685800" cy="68580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4166" y="1812798"/>
            <a:ext cx="315468" cy="31546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880360" y="245059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Score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2880360" y="29260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(Delivery-level rules)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2907792" y="352044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Fantasy points per delivery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Rule-based, reproducible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Non-players score 0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4782312" y="288036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5084064" y="1463040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5742432" y="1627632"/>
            <a:ext cx="685800" cy="68580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7598" y="1812798"/>
            <a:ext cx="315468" cy="3154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193792" y="245059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Featurize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5193792" y="29260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(Prior state only)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5221224" y="352044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Career, form, availability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and context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future information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7095744" y="288036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7397496" y="1463040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4"/>
          <p:cNvSpPr/>
          <p:nvPr/>
        </p:nvSpPr>
        <p:spPr>
          <a:xfrm>
            <a:off x="8055864" y="1627632"/>
            <a:ext cx="685800" cy="68580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1030" y="1812798"/>
            <a:ext cx="315468" cy="31546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507224" y="245059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Point Model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7507224" y="29260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(Gradient boosting, MAE loss)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7534656" y="352044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 gradient boosting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pre-match features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learned from features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9409176" y="288036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5" name="Shape 29"/>
          <p:cNvSpPr/>
          <p:nvPr/>
        </p:nvSpPr>
        <p:spPr>
          <a:xfrm>
            <a:off x="9710928" y="1463040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3175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0"/>
          <p:cNvSpPr/>
          <p:nvPr/>
        </p:nvSpPr>
        <p:spPr>
          <a:xfrm>
            <a:off x="10369296" y="1627632"/>
            <a:ext cx="685800" cy="68580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4462" y="1812798"/>
            <a:ext cx="315468" cy="315468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820656" y="245059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Optimize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820656" y="29260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(Exact role-count enumeration)</a:t>
            </a:r>
            <a:endParaRPr lang="en-US" sz="1050" dirty="0"/>
          </a:p>
        </p:txBody>
      </p:sp>
      <p:sp>
        <p:nvSpPr>
          <p:cNvPr id="40" name="Text 33"/>
          <p:cNvSpPr txBox="1"/>
          <p:nvPr/>
        </p:nvSpPr>
        <p:spPr>
          <a:xfrm>
            <a:off x="9848088" y="352044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11 by construction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ranges, both teams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Rechecked before CSV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457200" y="493776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EF2F2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35"/>
          <p:cNvSpPr/>
          <p:nvPr/>
        </p:nvSpPr>
        <p:spPr>
          <a:xfrm>
            <a:off x="640080" y="5212080"/>
            <a:ext cx="640080" cy="64008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902" y="5384902"/>
            <a:ext cx="294437" cy="294437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1463040" y="51023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</a:t>
            </a:r>
            <a:endParaRPr lang="en-US" sz="1400" dirty="0"/>
          </a:p>
        </p:txBody>
      </p:sp>
      <p:sp>
        <p:nvSpPr>
          <p:cNvPr id="45" name="Text 37"/>
          <p:cNvSpPr txBox="1"/>
          <p:nvPr/>
        </p:nvSpPr>
        <p:spPr>
          <a:xfrm>
            <a:off x="1463040" y="53949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score and feature traces back to source files and stated rules.</a:t>
            </a:r>
            <a:endParaRPr lang="en-US" sz="1150" dirty="0"/>
          </a:p>
        </p:txBody>
      </p:sp>
      <p:sp>
        <p:nvSpPr>
          <p:cNvPr id="46" name="Shape 38"/>
          <p:cNvSpPr/>
          <p:nvPr/>
        </p:nvSpPr>
        <p:spPr>
          <a:xfrm>
            <a:off x="4261104" y="493776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EF2F2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39"/>
          <p:cNvSpPr/>
          <p:nvPr/>
        </p:nvSpPr>
        <p:spPr>
          <a:xfrm>
            <a:off x="4443984" y="5212080"/>
            <a:ext cx="640080" cy="64008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6806" y="5384902"/>
            <a:ext cx="294437" cy="294437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5266944" y="51023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Leakage-safe</a:t>
            </a:r>
            <a:endParaRPr lang="en-US" sz="1400" dirty="0"/>
          </a:p>
        </p:txBody>
      </p:sp>
      <p:sp>
        <p:nvSpPr>
          <p:cNvPr id="50" name="Text 41"/>
          <p:cNvSpPr txBox="1"/>
          <p:nvPr/>
        </p:nvSpPr>
        <p:spPr>
          <a:xfrm>
            <a:off x="5266944" y="53949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read only state that existed before each match date.</a:t>
            </a:r>
            <a:endParaRPr lang="en-US" sz="1150" dirty="0"/>
          </a:p>
        </p:txBody>
      </p:sp>
      <p:sp>
        <p:nvSpPr>
          <p:cNvPr id="51" name="Shape 42"/>
          <p:cNvSpPr/>
          <p:nvPr/>
        </p:nvSpPr>
        <p:spPr>
          <a:xfrm>
            <a:off x="8065008" y="493776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EF2F2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43"/>
          <p:cNvSpPr/>
          <p:nvPr/>
        </p:nvSpPr>
        <p:spPr>
          <a:xfrm>
            <a:off x="8247888" y="5212080"/>
            <a:ext cx="640080" cy="64008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0710" y="5384902"/>
            <a:ext cx="294437" cy="294437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9070848" y="51023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by construction</a:t>
            </a:r>
            <a:endParaRPr lang="en-US" sz="1400" dirty="0"/>
          </a:p>
        </p:txBody>
      </p:sp>
      <p:sp>
        <p:nvSpPr>
          <p:cNvPr id="55" name="Text 45"/>
          <p:cNvSpPr txBox="1"/>
          <p:nvPr/>
        </p:nvSpPr>
        <p:spPr>
          <a:xfrm>
            <a:off x="9070848" y="53949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optimizer, not the model, enforces the XI rules.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965115" cy="20116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Strategies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feature groups, all computed from prior state so every row is safe to train 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43584"/>
            <a:ext cx="11274552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5760720" cy="36576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Career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Runs, wickets, batting, bowling, fielding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Recent Form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points, last 3, 5 and 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 Shape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Last-5 standard deviation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selection rate, known candidate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since last match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&amp; Opponent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form, opponent points allowed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Venue level, team type, gender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25780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254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594360" y="5330952"/>
            <a:ext cx="585216" cy="585216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68" y="5488960"/>
            <a:ext cx="269199" cy="26919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5257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Permutation importance: team_selection_rate5 (+2.26 MAE) and days_since_last (+2.17) rank highest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675120" y="1463040"/>
            <a:ext cx="5056632" cy="457200"/>
          </a:xfrm>
          <a:prstGeom prst="roundRect">
            <a:avLst>
              <a:gd name="adj" fmla="val 16000"/>
            </a:avLst>
          </a:prstGeom>
          <a:solidFill>
            <a:srgbClr val="991B1B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 txBox="1"/>
          <p:nvPr/>
        </p:nvSpPr>
        <p:spPr>
          <a:xfrm>
            <a:off x="6675120" y="1463040"/>
            <a:ext cx="5056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read before update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675120" y="2212848"/>
            <a:ext cx="50566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/>
          <p:cNvSpPr txBox="1"/>
          <p:nvPr/>
        </p:nvSpPr>
        <p:spPr>
          <a:xfrm>
            <a:off x="6858000" y="22585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Sort matches by date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858000" y="251460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 what counts as prior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9025128" y="27614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675120" y="2971800"/>
            <a:ext cx="50566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5"/>
          <p:cNvSpPr txBox="1"/>
          <p:nvPr/>
        </p:nvSpPr>
        <p:spPr>
          <a:xfrm>
            <a:off x="6858000" y="30175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Read prior state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327355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history before the match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9025128" y="3497580"/>
            <a:ext cx="3657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6675120" y="3730752"/>
            <a:ext cx="50566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 txBox="1"/>
          <p:nvPr/>
        </p:nvSpPr>
        <p:spPr>
          <a:xfrm>
            <a:off x="6858000" y="37764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Write feature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858000" y="403250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is built from that snapshot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9025128" y="4256532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6675120" y="4489704"/>
            <a:ext cx="50566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3"/>
          <p:cNvSpPr txBox="1"/>
          <p:nvPr/>
        </p:nvSpPr>
        <p:spPr>
          <a:xfrm>
            <a:off x="6858000" y="453542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Finish same-date rows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6858000" y="479145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Same-day matches cannot see each other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9020556" y="50154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30" name="Shape 26"/>
          <p:cNvSpPr/>
          <p:nvPr/>
        </p:nvSpPr>
        <p:spPr>
          <a:xfrm>
            <a:off x="6675120" y="5248656"/>
            <a:ext cx="50566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7"/>
          <p:cNvSpPr txBox="1"/>
          <p:nvPr/>
        </p:nvSpPr>
        <p:spPr>
          <a:xfrm>
            <a:off x="6858000" y="52943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Update state as batch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6858000" y="555040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moves forward once per date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457200" y="6126480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FEF2F2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0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data </a:t>
            </a:r>
            <a:r>
              <a:rPr lang="en-US" sz="1300" b="1" i="1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cutoff 2025-12-31</a:t>
            </a:r>
            <a:endParaRPr lang="en-US" sz="13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981E-8131-6F80-639E-0FA043FD8DFD}"/>
              </a:ext>
            </a:extLst>
          </p:cNvPr>
          <p:cNvSpPr txBox="1"/>
          <p:nvPr/>
        </p:nvSpPr>
        <p:spPr>
          <a:xfrm>
            <a:off x="7940040" y="59664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706394" cy="20116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Choices &amp; Model Composition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gradient-boosted point model with availability-aware features, using data through December 2025 only.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43584"/>
            <a:ext cx="11274552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3" y="1748333"/>
            <a:ext cx="252374" cy="25237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71600" y="1600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Point model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HistGradientBoosting, MAE loss, 250 iterations, 31 leaves.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265176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640080" y="2697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19.478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(validation)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154680" y="265176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 txBox="1"/>
          <p:nvPr/>
        </p:nvSpPr>
        <p:spPr>
          <a:xfrm>
            <a:off x="3154680" y="2697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66.63%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324612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Top-11 capture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39319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640080" y="4069080"/>
            <a:ext cx="548640" cy="54864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3" y="4217213"/>
            <a:ext cx="252374" cy="25237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371600" y="4069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Availability-aware features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64008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selection and recency let one model learn appearance.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40080" y="512064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0"/>
          <p:cNvSpPr txBox="1"/>
          <p:nvPr/>
        </p:nvSpPr>
        <p:spPr>
          <a:xfrm>
            <a:off x="640080" y="5166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27.14 / 5.53</a:t>
            </a:r>
            <a:endParaRPr lang="en-US" sz="2600" dirty="0"/>
          </a:p>
        </p:txBody>
      </p:sp>
      <p:sp>
        <p:nvSpPr>
          <p:cNvPr id="25" name="Text 21"/>
          <p:cNvSpPr txBox="1"/>
          <p:nvPr/>
        </p:nvSpPr>
        <p:spPr>
          <a:xfrm>
            <a:off x="731520" y="5669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MAE: played / absent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154680" y="512064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3"/>
          <p:cNvSpPr txBox="1"/>
          <p:nvPr/>
        </p:nvSpPr>
        <p:spPr>
          <a:xfrm>
            <a:off x="3154680" y="5166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0.886</a:t>
            </a:r>
            <a:endParaRPr lang="en-US" sz="2600" dirty="0"/>
          </a:p>
        </p:txBody>
      </p:sp>
      <p:sp>
        <p:nvSpPr>
          <p:cNvPr id="28" name="Text 24"/>
          <p:cNvSpPr txBox="1"/>
          <p:nvPr/>
        </p:nvSpPr>
        <p:spPr>
          <a:xfrm>
            <a:off x="3246120" y="5669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Appearance ROC-AUC</a:t>
            </a:r>
            <a:endParaRPr lang="en-US" sz="10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A11C723-B3D0-4411-B017-F7CAD6E3EA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701" y="1265910"/>
            <a:ext cx="4763687" cy="26802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7EF190D-53ED-A9A6-57F4-82493355182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47"/>
          <a:stretch>
            <a:fillRect/>
          </a:stretch>
        </p:blipFill>
        <p:spPr>
          <a:xfrm>
            <a:off x="6608064" y="3763969"/>
            <a:ext cx="4704283" cy="25585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447673" cy="20116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Constrained XI Selection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exact optimizer enumerates every feasible role-count split instead of relying on greedy picks.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43584"/>
            <a:ext cx="11274552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role-count optimizer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6949440" cy="77724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457200" y="18288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Inputs: predicted points, roles and teams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6334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6949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457200" y="30175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Enumerate feasible role-count splits (20 in total)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493008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777240" y="34930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split: </a:t>
            </a: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splits within role ranges summing to 11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77640" y="3493008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4069080" y="34930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pick: </a:t>
            </a: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best players per sorted role list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418795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991B1B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457200" y="45262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Guarantees: 11 total, role ranges, both teams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52303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828800" y="5532120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1828800" y="5532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Rechecks before CSV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0" y="1417320"/>
            <a:ext cx="395935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7955280" y="1554480"/>
            <a:ext cx="548640" cy="54864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413" y="1702613"/>
            <a:ext cx="252374" cy="252374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8686800" y="1554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optimizer uses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955280" y="224028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points: ranking score per candidate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roles: fixture roles override inferred roles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ranges: WK 1-4, BAT 3-6, AR 1-4, BOWL 3-6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teams: at least one player from each side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772400" y="3840480"/>
            <a:ext cx="3959352" cy="2194560"/>
          </a:xfrm>
          <a:prstGeom prst="roundRect">
            <a:avLst>
              <a:gd name="adj" fmla="val 3333"/>
            </a:avLst>
          </a:prstGeom>
          <a:solidFill>
            <a:srgbClr val="FEF2F2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6"/>
          <p:cNvSpPr/>
          <p:nvPr/>
        </p:nvSpPr>
        <p:spPr>
          <a:xfrm>
            <a:off x="7955280" y="3977640"/>
            <a:ext cx="548640" cy="54864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3413" y="4125773"/>
            <a:ext cx="252374" cy="252374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8686800" y="3977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exact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7955280" y="461772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Enumerates every feasible role-count split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returns an illegal XI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Minimum-loss swap adds the missing side if needed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Next Iterations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current model falls short, and how the next version addresses it.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43584"/>
            <a:ext cx="11274552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8580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194560"/>
            <a:ext cx="640080" cy="64008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2" y="2367382"/>
            <a:ext cx="294437" cy="29443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08760" y="21214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Ceiling scores underpredicted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24688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Top-end outcomes sit above what the point model predicts.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85800" y="3291840"/>
            <a:ext cx="640080" cy="64008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22" y="3464662"/>
            <a:ext cx="294437" cy="29443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08760" y="32186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Inferred roles can fail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508760" y="35661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are inferred, so a player can land in the wrong role group.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85800" y="4389120"/>
            <a:ext cx="640080" cy="64008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2" y="4561942"/>
            <a:ext cx="294437" cy="29443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08760" y="43159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pools are approximations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508760" y="4663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Squads are approximated from each team's five most recent XIs.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45352" y="14630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EF2F2"/>
          </a:solidFill>
          <a:ln w="254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7"/>
          <p:cNvSpPr txBox="1"/>
          <p:nvPr/>
        </p:nvSpPr>
        <p:spPr>
          <a:xfrm>
            <a:off x="6473952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6473952" y="2194560"/>
            <a:ext cx="640080" cy="64008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6774" y="2367382"/>
            <a:ext cx="294437" cy="29443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296912" y="21214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Two-stage appearance model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7296912" y="24688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Appearance probability plus conditional points.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473952" y="3291840"/>
            <a:ext cx="640080" cy="64008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6774" y="3464662"/>
            <a:ext cx="294437" cy="29443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296912" y="32186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roles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7296912" y="35661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inferred roles with a trusted role source.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473952" y="4389120"/>
            <a:ext cx="640080" cy="64008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6774" y="4561942"/>
            <a:ext cx="294437" cy="294437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296912" y="43159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or quantile objective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7296912" y="4663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 the upside compressed by MAE training.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457200" y="6126480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FEF2F2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28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for the next iteration: better ceiling estimates and more reliable roles behind every selection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864</Words>
  <Application>Microsoft Office PowerPoint</Application>
  <PresentationFormat>Widescreen</PresentationFormat>
  <Paragraphs>164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Optimal Fantasy Cricket Team - Final Model v3</dc:title>
  <dc:subject>PptxGenJS Presentation</dc:subject>
  <dc:creator>PptxGenJS</dc:creator>
  <cp:lastModifiedBy>Abhiraj Singh</cp:lastModifiedBy>
  <cp:revision>2</cp:revision>
  <dcterms:modified xsi:type="dcterms:W3CDTF">2026-09-30T21:06:51Z</dcterms:modified>
</cp:coreProperties>
</file>