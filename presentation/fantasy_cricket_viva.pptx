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9248945ed44b7" /><Relationship Type="http://schemas.openxmlformats.org/officeDocument/2006/relationships/extended-properties" Target="/docProps/app.xml" Id="R911fb7ddb5024f32" /><Relationship Type="http://schemas.openxmlformats.org/officeDocument/2006/relationships/officeDocument" Target="/ppt/presentation.xml" Id="R724448a320b54a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bf39e28f6a4971"/>
  </p:sldMasterIdLst>
  <p:notesMasterIdLst>
    <p:notesMasterId xmlns:r="http://schemas.openxmlformats.org/officeDocument/2006/relationships" r:id="R16d6983173e84b49"/>
  </p:notesMasterIdLst>
  <p:sldIdLst>
    <p:sldId xmlns:r="http://schemas.openxmlformats.org/officeDocument/2006/relationships" id="256" r:id="R6ae07c8860a84c4a"/>
    <p:sldId xmlns:r="http://schemas.openxmlformats.org/officeDocument/2006/relationships" id="257" r:id="R33f3750cac204780"/>
    <p:sldId xmlns:r="http://schemas.openxmlformats.org/officeDocument/2006/relationships" id="258" r:id="R7b8df904a8394bff"/>
    <p:sldId xmlns:r="http://schemas.openxmlformats.org/officeDocument/2006/relationships" id="259" r:id="R5b32370c6b574e67"/>
    <p:sldId xmlns:r="http://schemas.openxmlformats.org/officeDocument/2006/relationships" id="260" r:id="R196cdbc3c7864b41"/>
    <p:sldId xmlns:r="http://schemas.openxmlformats.org/officeDocument/2006/relationships" id="261" r:id="R3ea51b77bfa642d5"/>
    <p:sldId xmlns:r="http://schemas.openxmlformats.org/officeDocument/2006/relationships" id="262" r:id="R4abe5a6645b74ce2"/>
    <p:sldId xmlns:r="http://schemas.openxmlformats.org/officeDocument/2006/relationships" id="263" r:id="R4e1af38a28b247a7"/>
    <p:sldId xmlns:r="http://schemas.openxmlformats.org/officeDocument/2006/relationships" id="264" r:id="R4adc361055364c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aecdbd9ca64fca" /><Relationship Type="http://schemas.openxmlformats.org/officeDocument/2006/relationships/slideMaster" Target="/ppt/slideMasters/slideMaster1.xml" Id="R11bf39e28f6a4971" /><Relationship Type="http://schemas.openxmlformats.org/officeDocument/2006/relationships/notesMaster" Target="/ppt/notesMasters/notesMaster1.xml" Id="R16d6983173e84b49" /><Relationship Type="http://schemas.openxmlformats.org/officeDocument/2006/relationships/presProps" Target="/ppt/presProps.xml" Id="Rfee779d8b3b645bb" /><Relationship Type="http://schemas.openxmlformats.org/officeDocument/2006/relationships/tableStyles" Target="/ppt/tableStyles.xml" Id="R08866b73893848ea" /><Relationship Type="http://schemas.openxmlformats.org/officeDocument/2006/relationships/slide" Target="/ppt/slides/slide1.xml" Id="R6ae07c8860a84c4a" /><Relationship Type="http://schemas.openxmlformats.org/officeDocument/2006/relationships/slide" Target="/ppt/slides/slide2.xml" Id="R33f3750cac204780" /><Relationship Type="http://schemas.openxmlformats.org/officeDocument/2006/relationships/slide" Target="/ppt/slides/slide3.xml" Id="R7b8df904a8394bff" /><Relationship Type="http://schemas.openxmlformats.org/officeDocument/2006/relationships/slide" Target="/ppt/slides/slide4.xml" Id="R5b32370c6b574e67" /><Relationship Type="http://schemas.openxmlformats.org/officeDocument/2006/relationships/slide" Target="/ppt/slides/slide5.xml" Id="R196cdbc3c7864b41" /><Relationship Type="http://schemas.openxmlformats.org/officeDocument/2006/relationships/slide" Target="/ppt/slides/slide6.xml" Id="R3ea51b77bfa642d5" /><Relationship Type="http://schemas.openxmlformats.org/officeDocument/2006/relationships/slide" Target="/ppt/slides/slide7.xml" Id="R4abe5a6645b74ce2" /><Relationship Type="http://schemas.openxmlformats.org/officeDocument/2006/relationships/slide" Target="/ppt/slides/slide8.xml" Id="R4e1af38a28b247a7" /><Relationship Type="http://schemas.openxmlformats.org/officeDocument/2006/relationships/slide" Target="/ppt/slides/slide9.xml" Id="R4adc36105536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649ccbd49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4a008b2cf4f91" /><Relationship Type="http://schemas.openxmlformats.org/officeDocument/2006/relationships/notesMaster" Target="/ppt/notesMasters/notesMaster1.xml" Id="R8ad1c97de41b45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879ada388496a" /><Relationship Type="http://schemas.openxmlformats.org/officeDocument/2006/relationships/notesMaster" Target="/ppt/notesMasters/notesMaster1.xml" Id="R082282cf3dfd4d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ce19b558434433" /><Relationship Type="http://schemas.openxmlformats.org/officeDocument/2006/relationships/notesMaster" Target="/ppt/notesMasters/notesMaster1.xml" Id="R1887f922f1b8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d9ec0159e4b04" /><Relationship Type="http://schemas.openxmlformats.org/officeDocument/2006/relationships/notesMaster" Target="/ppt/notesMasters/notesMaster1.xml" Id="R3f094e2f5227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6670da416b44ce" /><Relationship Type="http://schemas.openxmlformats.org/officeDocument/2006/relationships/notesMaster" Target="/ppt/notesMasters/notesMaster1.xml" Id="R75e9e113b1d3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080031540d4d3f" /><Relationship Type="http://schemas.openxmlformats.org/officeDocument/2006/relationships/notesMaster" Target="/ppt/notesMasters/notesMaster1.xml" Id="R2dcfd92cf3e542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6804076fb48a4" /><Relationship Type="http://schemas.openxmlformats.org/officeDocument/2006/relationships/notesMaster" Target="/ppt/notesMasters/notesMaster1.xml" Id="R84db805ab1814e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6ed4505fbf4c48" /><Relationship Type="http://schemas.openxmlformats.org/officeDocument/2006/relationships/notesMaster" Target="/ppt/notesMasters/notesMaster1.xml" Id="R373a92cc9f45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d80f288a3e40d8" /><Relationship Type="http://schemas.openxmlformats.org/officeDocument/2006/relationships/notesMaster" Target="/ppt/notesMasters/notesMaster1.xml" Id="Rf7b5bb91c4ff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and constraints come from the supplied hackathon brief. Match data source: https://cricsheet.org/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Composition rules are reproduced from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Cricsheet JSON format reference: https://cricsheet.org/format/json/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Cricsheet player lists and registry behavior are documented at https://cricsheet.org/format/json/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cutoff and excluded information are requirements from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were generated by reports/v3_metrics.json using a date-based chronological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shown come from reports/v3_metrics.json. Permutation importance is measured as validation MAE increase.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composition ranges come from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 and limitations are documented in the repository README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cc5fedbe9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8b3441f234455" /><Relationship Type="http://schemas.openxmlformats.org/officeDocument/2006/relationships/slideLayout" Target="/ppt/slideLayouts/slideLayout1.xml" Id="Rc2e98eb9c132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98eb9c132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4643130e349d1" /><Relationship Type="http://schemas.openxmlformats.org/officeDocument/2006/relationships/notesSlide" Target="/ppt/notesSlides/notesSlide1.xml" Id="R1713efa90ca141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8ceb238c34b45" /><Relationship Type="http://schemas.openxmlformats.org/officeDocument/2006/relationships/notesSlide" Target="/ppt/notesSlides/notesSlide2.xml" Id="Rcf0178e6a95849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2eed34ae542c1" /><Relationship Type="http://schemas.openxmlformats.org/officeDocument/2006/relationships/notesSlide" Target="/ppt/notesSlides/notesSlide3.xml" Id="Re8044d876a0a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1a8d53093423c" /><Relationship Type="http://schemas.openxmlformats.org/officeDocument/2006/relationships/notesSlide" Target="/ppt/notesSlides/notesSlide4.xml" Id="R88276098af0742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04afeb1fe4b55" /><Relationship Type="http://schemas.openxmlformats.org/officeDocument/2006/relationships/notesSlide" Target="/ppt/notesSlides/notesSlide5.xml" Id="R1fcd59365e024d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057790cc444f" /><Relationship Type="http://schemas.openxmlformats.org/officeDocument/2006/relationships/chart" Target="/ppt/slides/charts/chart1.xml" Id="R75bcde43de284c36" /><Relationship Type="http://schemas.openxmlformats.org/officeDocument/2006/relationships/notesSlide" Target="/ppt/notesSlides/notesSlide6.xml" Id="Rf12212f3db9647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2e8a86a23450b" /><Relationship Type="http://schemas.openxmlformats.org/officeDocument/2006/relationships/chart" Target="/ppt/slides/charts/chart2.xml" Id="R72f3c8fe52d34548" /><Relationship Type="http://schemas.openxmlformats.org/officeDocument/2006/relationships/notesSlide" Target="/ppt/notesSlides/notesSlide7.xml" Id="R89e1e14a531f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9d728d934228" /><Relationship Type="http://schemas.openxmlformats.org/officeDocument/2006/relationships/notesSlide" Target="/ppt/notesSlides/notesSlide8.xml" Id="Rb304c5358d844c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5b8e7f8114b5a" /><Relationship Type="http://schemas.openxmlformats.org/officeDocument/2006/relationships/notesSlide" Target="/ppt/notesSlides/notesSlide9.xml" Id="Rca71196fda664b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Spearman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Data'!$A$2:$A$4</c:f>
              <c:strCache>
                <c:ptCount val="3"/>
                <c:pt idx="0">
                  <c:v>Final blend</c:v>
                </c:pt>
                <c:pt idx="1">
                  <c:v>Recent 5</c:v>
                </c:pt>
                <c:pt idx="2">
                  <c:v>No context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0.36</c:v>
                </c:pt>
                <c:pt idx="1">
                  <c:v>0.303</c:v>
                </c:pt>
                <c:pt idx="2">
                  <c:v>0.349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Spearman</c:v>
          </c:tx>
          <c:spPr>
            <a:solidFill xmlns:a="http://schemas.openxmlformats.org/drawingml/2006/main">
              <a:srgbClr val="2E7D68"/>
            </a:solidFill>
          </c:spPr>
          <c:cat>
            <c:strRef>
              <c:f>'Chart Data'!$A$2:$A$4</c:f>
              <c:strCache>
                <c:ptCount val="3"/>
                <c:pt idx="0">
                  <c:v>Final blend</c:v>
                </c:pt>
                <c:pt idx="1">
                  <c:v>Recent five</c:v>
                </c:pt>
                <c:pt idx="2">
                  <c:v>No context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0.36</c:v>
                </c:pt>
                <c:pt idx="1">
                  <c:v>0.303</c:v>
                </c:pt>
                <c:pt idx="2">
                  <c:v>0.349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49F6C-2D10-4461-B412-7C4C056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CF1A4-5FA9-489B-B390-F0FF895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573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Optimal Fantasy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Cricket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EF156-A980-47B7-BF54-79426BF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Availability-aware scoring and exact constrained XI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B5C10-94B4-41E3-8AE2-6B728F46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model v3 · technical viva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1AAF4-B0ED-4CAA-BAA9-7491ADC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054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Cricsheet data through 31 December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E72B0-79B6-49EB-A981-9B93F0FE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0625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86C76-775A-4BF6-89A8-861176A1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395433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EC151-ED7B-4219-A265-6381073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Prediction task and composition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A1061-677D-4116-8E40-48DE966F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The model sees two full squads before the toss and must return one legal XI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D8301-519C-44D1-9031-1D79D2C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BEDD3-8F01-4EDA-9DDC-E41081B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Wicket keeper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37C16-0670-49B5-A1C4-80B00647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 to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A0484-AF9C-4EEF-BD18-78E8634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A070C-66ED-4C15-BDBA-54150252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7A00D-1533-4C00-8725-12A2EF3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 to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6782F-2B77-4EF3-AEF8-7C623B7B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5787E-CB25-46AF-A1F7-2A7A5A2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194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All rounders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031C6-BEF9-4054-AD6C-1F78C110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194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1 to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6F1CF-0C22-497F-8F02-59B212E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11357-1008-4C56-9954-0ADCD03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957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Bowlers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464A0-4D09-4A90-9C92-33C1CE76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957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3 to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AB632-9701-42A5-9A06-4AD924B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3476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Exactly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52E18-A709-4C64-B279-4F57A305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476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 least one player from each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2F5EA-7A2B-4EC6-9D02-FB0C7BB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476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 captain or vice-captain multipliers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5F438-7E32-40F6-AA6B-C69B0BD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statistical model ranks candidates. The decision layer guarantees legality.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0A9E2-ABE4-4CD3-A3A6-84160BC6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4532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5A62E-CD42-4EE5-9AF8-BEDE0E1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 to end model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C9BD0-63F8-48E1-B13E-CE5B6E7A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Every stage has a narrow contract and a reproducible artifact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4DF85-673B-4442-8A87-E2EF8EBF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63130-99A0-4706-8F83-7F8257D1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33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269A-BE7B-4019-939A-7B581B60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Cricsheet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42399-0351-4662-A422-C6D4212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Domain allow-list and hashes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EA061-BC6F-4B32-8B41-C16CB1F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828E7-FA43-4DE8-A8CD-BCA799B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A9D95-DAC8-47C4-8B9E-D5834BE7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Fantasy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66796-D127-4FAE-84EA-860FE40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Delivery-level score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2E619-F72D-449B-A6A4-603E2E1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B695-8B29-4556-8C53-E4C449F5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33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1AA36-5A68-4118-85D3-4FFBD0DF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Pre-match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AC204-3E42-4D36-ACAB-0EAD942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State read before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AE8CE-3E75-41AB-B97E-58596B5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95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7498D-37BD-4B60-B9C7-19790B2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33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72300-273C-4D8F-A213-6865546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Two-stage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7CC5F-86C6-444C-A0F7-678FA61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Appearance × conditional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6D594-6199-4ACC-A248-983B0BD1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A56E6-8380-4CDC-AFB6-7C94C1C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33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3349F-7BA3-4D74-9458-FC5B99B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Exact XI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3905A-E0E4-4354-8EDD-9BD3F4E1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Dynamic program and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D57A2-E400-429D-B344-AAAB4D7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42A84-18F2-4221-8E25-08BF2AC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Stored artifact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C4F27-73A8-4829-887F-08527CF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95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two point regressors + classifier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D2593-A7D6-41A1-A232-085A36E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958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pre-cutoff player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5D62F-3F52-4A2F-ADAB-A30DB3B2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958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metrics and feature importance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8B5A8-917C-48E8-B702-842C011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hidden evaluation only needs this artifact plus test_fixtures.json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2BB30-B468-4F80-AA33-79586D0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5149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0B908-7570-4564-8665-0340BF4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Features available before the match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823E9-5114-4B63-965D-75B87304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Current-match events, toss fields, and future aggregates never enter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6CF5-F4A4-4B2F-9B8E-B49F4599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Career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3F74-F614-47F8-B993-D33CD4AF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experience and component averages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2232D-D03A-4872-8960-B013BC9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Recent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A029D-50B3-4C2E-A459-D37B900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batting, bowling, fielding; last 3/5/10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14CBB-2C24-4FF2-BC87-A9A2778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Form shape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6535C-2CEE-450C-B551-3AA682BC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peak, floor, variability, trend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30A6B-BEF0-4EDB-9C68-560797B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D7A9F-27C3-47C0-B0D8-A67312E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243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appearance rate, team share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DCE65-D430-4F82-85A3-54C4C99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4EEEA-E455-4373-B4E0-F7EC45E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053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30/90-day load and rest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8182-AA36-4065-AFE2-7B6D1BC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4000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2D9C5-1108-48B3-9D30-27A18AE7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Two-stage expectation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E3BF3-DDE6-4789-B9E2-62794B5C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A learned classifier estimates whether each announced squad member will enter the official XI.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390E4-387C-4EDA-A99F-DCAAF9C5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conditional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C152F-4FB6-4A59-AD73-112CD081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333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58711-4B12-4CDC-94CE-B26A1443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338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P(plays)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53C61-6772-43E8-A656-C53A85B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Fixture roles override history-based role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49929-5C76-420A-8916-D0BC9155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675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1CCB4-6BE6-40B7-9786-82923C9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Leakage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04FDB-D318-4C3A-A116-FF151B3E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The row is frozen before the target match changes any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ED6AA-065D-4F06-AC1D-47FA8F6C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47700-4E62-4417-BB12-5F09E70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Sort matches by 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8157-9AC4-487E-A54B-A3B3A4D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7D04A-4535-4741-B9BB-74C5B07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 prior player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87928-A9F5-4FEA-B0B4-7D4FD00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C622D-7561-4A78-91DC-B86822D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Write the feature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41235-3286-4CA6-A127-5703A60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4886E-F2A6-43BA-9AFA-1C0AF497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every same-date 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2BA87-2A83-497B-9A68-E983FB4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907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29649-57AB-43E4-A555-5E8D06A5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 update state as a 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76E4F-49B1-432C-88CF-3BC7FF4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1AB61-6F86-46D7-ACB3-D3B316F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Hard cutoff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53C12-E476-4F59-B418-DCBC883F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747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aborts when the requested end date exceeds 2025-12-31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BFFA9-841E-47DE-813A-E430A9F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Post-cutoff outcomes are absent from training and saved feature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6D3B2-6C50-4512-A316-5EEB89C7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34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E58D5-45C1-4A76-AA89-49BCBA8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Chronological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4AFCD-CEEE-4979-A1C7-6F4322A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85,231 player rows · 2023-10-06 to 2025-12-31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A2020-9B35-48AD-B298-9EBD232C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25.25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B2039-B138-4D2D-BFD0-D9B27AC5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8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7158-A726-4295-8E5C-B220BC5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764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34.26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F59D3-21BF-48B1-9E2A-CAC0FD59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8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92F29-9BDD-40F2-B853-832BBADD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764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0.360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C659F-B586-4448-A5A4-7BA6A64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B78"/>
                </a:solidFill>
                <a:latin typeface="Arial"/>
                <a:ea typeface="Arial"/>
                <a:cs typeface="Arial"/>
              </a:rPr>
              <a:t>Spearman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239000" y="1666875"/>
          <a:ext xmlns:a="http://schemas.openxmlformats.org/drawingml/2006/main" cx="390525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bcde43de284c3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095A4-137F-453E-B518-E0D71169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576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E4463-A7D3-425C-AAAC-239957EF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Appearance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03B43-D988-4C5F-9D00-FA505198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571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ROC-AUC 0.886  ·  Brier 0.132</a:t>
            </a:r>
          </a:p>
          <a:p xmlns:a="http://schemas.openxmlformats.org/drawingml/2006/main">
            <a:pPr>
              <a:defRPr sz="165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The classifier learns which squad members actually play.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E906E-7A98-4C35-BC3E-543BBED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MAE calibrates points; Spearman tests player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FB9F0-D4A5-4FB3-9326-4039358E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9996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FFBEE-5DF0-44C7-9265-6455CE54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Ablations and feature importance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7EB30-7EE4-4D7E-865B-C28244D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Evidence from the same chronological validation split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f3c8fe52d345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81528-685F-4489-8314-D6B98E8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Top point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FC38F-05D7-49C9-8040-1BEE640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B0BB2-EE9B-4427-B733-62940FC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recent bowling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5664-5B54-4C88-AC56-B75A408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+0.906 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6C790-B4D6-4D4C-A661-655EF18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2EA22-CF49-47ED-8C95-383306D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career avg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81A9B-EF24-4FB3-BB74-AFE026E7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432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+0.560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6F2DC-4FA5-4641-AB54-90506FD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4327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DCECF-8E77-4E52-A895-3F38ACD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recent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24EF0-3125-4E0F-8D8D-9753286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956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+0.180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A8C9-7504-4E06-BAD9-D9841FF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51091-CF21-41CE-83FC-84C04287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bowling avg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76178-66A5-4990-8B40-32DCB769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+0.155 MAE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A6FC5-EE1B-4900-B135-760CFD6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8E0DF-A943-41FF-AB78-809BDF5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recent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B7187-84CA-440B-BDC3-D006F004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005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+0.122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2B8EB-C1D4-4B1A-BB43-7FC46B40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Appearance ROC-AUC 0.886 is the key pre-toss selection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6FBDC-0481-41A0-899A-5E13846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8612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2966B-2389-4D4C-B87A-4DBED5DA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Exact constrained XI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860F5-A61F-4037-8D70-80E6B0D5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Dynamic programming retains the best score for every legal partial-team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099E1-52FF-4C66-9423-A42B43C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1190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E4BFC-FCEB-44B2-AB14-5995E238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51C3E-8D12-45B9-8A5C-7C068C0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E856D-504C-457E-8884-287B2015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1BBA8-787D-4811-9D05-9FCC21A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7250B-7318-48EA-998B-7477FD8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19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251C-9B25-46B4-ADF9-DEAE6D82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team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5F27A-AE78-4076-B47A-E38A812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19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best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78CBF-041F-4143-81B8-AF412ECE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 each player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3566D-33FD-48CB-A4CE-FA8F1148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1476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skip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5C76-4A56-4011-8305-8206E33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3333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if role maximum allows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3AD0E-AB10-44D1-B35F-E03D8043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the higher-scoring duplicate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B9041-7187-4EAE-B495-7CCE4CD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3BD49-4FFB-4B43-8E73-ABBEEE3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11 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0779E-F593-4AEF-AC01-FA101ED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WK 1–4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583D8-1657-40DE-BFE8-6C26B3F0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BAT 3–6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DE614-C42B-49A4-8BD1-102CF3A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AR 1–4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A6AE6-E311-4AE1-8A58-62003E28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BOWL 3–6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85968-AB7B-4A3A-B17F-1C92E89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both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412BF-4A39-4B4B-AC2F-EC66724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final validator rechecks every constraint before CSV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807DC-5C79-4342-933C-58CAE08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44489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6D417-473E-493E-B1C5-131DE1FB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the hidden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8CC8E-21EA-4144-9CA3-51F0B2C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One command produces the submission 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AAD51-C3B3-494F-A37F-7A09CA55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2A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2A43A"/>
                </a:solidFill>
                <a:latin typeface="Arial"/>
                <a:ea typeface="Arial"/>
                <a:cs typeface="Arial"/>
              </a:rPr>
              <a:t>python src/evaluate.py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B9267-168F-4977-8F73-840DC313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623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--model-path model_artifacts/model_2025-12-31.pkl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2237-393D-4F15-AA6C-4AB97D4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547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--test-file data/raw/test_fixtures.json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14FE-150C-43A1-B72B-1A49D28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547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--output results/hidden_predictions.csv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868B5-8488-44F3-97B2-CFB8C42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2386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69ABD-7174-48AA-86E8-D6F8CF6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Known 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2396-F838-4001-B9E5-10742AF4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860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5E9CF-9BE1-40CE-81B6-0B0DB42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Official hidden results require organizer fixtures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C8351-B69E-4C66-8418-2A9EA01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3DA6F-C83E-4584-8B82-79D67E4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Role inference remains a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7E0EA-1761-4A98-889D-93B8CCD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67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4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C5C5D-0E6E-43C4-A757-978FE59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Explosive tail scores are underpredicted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F9159-1E90-4D47-A793-1D10B79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57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EBAFB-2612-4EC2-AFCF-4A343D4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8"/>
                </a:solidFill>
                <a:latin typeface="Arial"/>
                <a:ea typeface="Arial"/>
                <a:cs typeface="Arial"/>
              </a:rPr>
              <a:t>Run-out direct hits require approximation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A8095-1522-4B47-B127-EFFAF1E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29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Reproducible code, measured claims, legal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F35B9-9E01-4DE3-976D-E5169CB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Cutoff enforced. Artifact frozen. Ready for the hidden fixture.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9BABA-8741-430D-8A43-3AC32D03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AF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CEAF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6972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2026-09-30T10:43:34.0560000Z</dcterms:created>
  <dcterms:modified xsi:type="dcterms:W3CDTF">2026-09-30T10:43:34.0560000Z</dcterms:modified>
</coreProperties>
</file>